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11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A69F-7370-4392-834D-2C6196CAB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31480-BE9F-4C4B-98FE-DCF8578A8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DD369-9913-4D36-BD9F-6C0E7294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896C9-CF74-4362-BEAE-3416F14D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08AD1-3B08-4B1F-8F2B-CCF2AFEE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60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333B4-FE60-47B1-931E-C83C536F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E1233-54B0-4BC1-87BE-416336A6B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6A1F8-4261-43EF-8A8F-13DE8883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94811-B679-4B90-8F5F-37455D20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470C5-82E9-4165-9CD2-CFA1F9FD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90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991D-CCF0-4ED1-8E28-899364FB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84B0-DFF5-477E-846B-960F88AC0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31200-23A3-405E-BCFA-C041B81B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EEA90-92F5-4FE2-A516-DA5AE02A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4FBC0-70B4-4FA8-A89C-73BC3A95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44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8598-89B1-4483-AEF9-E1A4FD2D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939B6-3DC2-4EBC-97CA-E4F4D1C9C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65483-CCF8-4346-BA2A-3D514B3AA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71CC0-586A-41B8-800E-589026F4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543DE-53E8-49B7-8EEE-3F29A6B6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F8BC7-8BCB-433E-88AA-24CECEE9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60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7A1D-6EC5-4646-8D64-247B56F6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5C658-CF88-4C46-A198-CB96A9C9B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8AB16-AC21-4F97-87F4-1A77761D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14B2F-713D-404C-A42B-F2CD4F19C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53105-A638-489E-BFB8-8D2CEEB5A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7F085-D90A-471E-94AF-48C07D0E5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8B0ED-5D38-4C68-8B54-0DFC78B1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3C9CB-C382-480F-82BF-BF1ACCCC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51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8136-30C0-45AD-B688-5BFC7BFD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926D2-370D-4BF2-8513-C9719CB8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EA89F-8496-4622-B8EE-7ABCF4AB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C313B-B875-4D66-8351-B01CC1DF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24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2122D-90C4-40FC-B4F3-978D41E0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F7997-ECE0-405D-82F6-388D9FA2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CE14F-C341-494E-9BB9-9733B9ED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03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850C-084C-4627-A603-D468DD1A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95115-BFFD-49CB-9778-D07C2E24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8BB3B-7C1B-4E14-B1AD-B6991D43D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6D8C2-6EE4-4703-9F11-EDBF3174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25E42-1E78-43AD-87FE-8ECD9B6D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5FA02-1043-4EBE-886D-25840652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38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7B62-34D5-499B-8EFD-54619B87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AFC63-1247-4598-B1A7-9512E2D8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59C6E-A6A6-4FF5-AD9E-7340C6204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33616-27BA-4575-96D8-09A959B1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67174-9CAA-403C-B5F2-0B4FAAA8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CE4FF-57AA-4B85-880B-BDA566BA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45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2C45-7292-40E4-A124-01C26075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8C664-A83F-4385-A115-30108D70C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19AE5-636E-457F-8E59-07E8FF25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640DA-25C5-498E-85D8-30BE9F27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B3DB5-5EA9-4895-8590-20F314AF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26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F6D39-FC27-446E-BEC6-64048CD1E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5A0DA-E8D4-4E7B-946D-DC3FE9D0D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F5DB5-885F-4A0F-9273-554880B2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5B1C7-48CC-4515-8D4E-674DBADB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5ECB0-0F0F-4336-A50E-89C31801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55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9BD8F-B8C5-4247-9C36-3296CE8F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5BCFA-1337-4607-8F57-D93CB7552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23BA-8F7C-41C7-BC2E-A2E4252B9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32197-0F09-4A9B-B0E9-BB45C53B42B8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93C2-B7E6-4F37-A60C-C6C4823A2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CC9CA-CBD8-4A50-9E54-8913921E9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7F1F2-83D6-401F-8F36-2ACCCF85A0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24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F939-B2FD-4A6B-AB78-0BDADCDDB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14" y="493713"/>
            <a:ext cx="9144000" cy="2387600"/>
          </a:xfrm>
        </p:spPr>
        <p:txBody>
          <a:bodyPr/>
          <a:lstStyle/>
          <a:p>
            <a:r>
              <a:rPr lang="en-US" b="1" dirty="0" err="1"/>
              <a:t>InSAR</a:t>
            </a:r>
            <a:r>
              <a:rPr lang="en-US" b="1" dirty="0"/>
              <a:t> + DL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21445-6E78-403E-88A1-FBCDBE1E12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IEEE </a:t>
            </a:r>
            <a:r>
              <a:rPr lang="en-US" sz="3600" b="1" dirty="0" err="1"/>
              <a:t>GRSS</a:t>
            </a:r>
            <a:r>
              <a:rPr lang="en-US" sz="3600" b="1" dirty="0"/>
              <a:t> Data Fusion Contest 2026</a:t>
            </a:r>
          </a:p>
        </p:txBody>
      </p:sp>
    </p:spTree>
    <p:extLst>
      <p:ext uri="{BB962C8B-B14F-4D97-AF65-F5344CB8AC3E}">
        <p14:creationId xmlns:p14="http://schemas.microsoft.com/office/powerpoint/2010/main" val="418703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226C-8CC3-43E4-86C8-62D5FBAA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164" cy="1325563"/>
          </a:xfrm>
        </p:spPr>
        <p:txBody>
          <a:bodyPr/>
          <a:lstStyle/>
          <a:p>
            <a:r>
              <a:rPr lang="en-US" b="1" dirty="0"/>
              <a:t>Two Main Lines of Work considering </a:t>
            </a:r>
            <a:r>
              <a:rPr lang="en-US" b="1" dirty="0" err="1"/>
              <a:t>InSAR+DL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71B8-D5CB-4CE2-9964-68310B132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 err="1"/>
              <a:t>InSAR</a:t>
            </a:r>
            <a:r>
              <a:rPr lang="en-US" sz="3600" b="1" dirty="0"/>
              <a:t> pipeline Improvement: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e.g. Improve coherence, interferogram, phase unwrapping, phase filtering to improve the results of downstream tasks e.g. DEM quality. </a:t>
            </a:r>
            <a:r>
              <a:rPr lang="en-US" dirty="0">
                <a:solidFill>
                  <a:schemeClr val="accent1"/>
                </a:solidFill>
              </a:rPr>
              <a:t>(gathered 26 papers (classic + DL based </a:t>
            </a:r>
            <a:r>
              <a:rPr lang="en-US" dirty="0" err="1">
                <a:solidFill>
                  <a:schemeClr val="accent1"/>
                </a:solidFill>
              </a:rPr>
              <a:t>InSAR</a:t>
            </a:r>
            <a:r>
              <a:rPr lang="en-US" dirty="0">
                <a:solidFill>
                  <a:schemeClr val="accent1"/>
                </a:solidFill>
              </a:rPr>
              <a:t>))</a:t>
            </a:r>
          </a:p>
          <a:p>
            <a:r>
              <a:rPr lang="en-US" sz="3600" b="1" dirty="0" err="1"/>
              <a:t>InSAR</a:t>
            </a:r>
            <a:r>
              <a:rPr lang="en-US" sz="3600" b="1" dirty="0"/>
              <a:t> Applications: </a:t>
            </a:r>
          </a:p>
          <a:p>
            <a:pPr marL="0" indent="0">
              <a:buNone/>
            </a:pPr>
            <a:r>
              <a:rPr lang="en-US" sz="3600" b="1" dirty="0"/>
              <a:t>	</a:t>
            </a:r>
            <a:r>
              <a:rPr lang="en-US" dirty="0"/>
              <a:t>e.g. Time series analysis of a region of region of interest for change detection, land deformation, canopy height estimation etc.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(gathered 15 papers (Time series </a:t>
            </a:r>
            <a:r>
              <a:rPr lang="en-US" dirty="0" err="1">
                <a:solidFill>
                  <a:schemeClr val="accent1"/>
                </a:solidFill>
              </a:rPr>
              <a:t>InSAR</a:t>
            </a:r>
            <a:r>
              <a:rPr lang="en-US" dirty="0">
                <a:solidFill>
                  <a:schemeClr val="accent1"/>
                </a:solidFill>
              </a:rPr>
              <a:t> analysis with DL + other apps))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82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226C-8CC3-43E4-86C8-62D5FBAA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365125"/>
            <a:ext cx="11593286" cy="1325563"/>
          </a:xfrm>
        </p:spPr>
        <p:txBody>
          <a:bodyPr/>
          <a:lstStyle/>
          <a:p>
            <a:r>
              <a:rPr lang="en-US" b="1" dirty="0"/>
              <a:t>Key Steps – </a:t>
            </a:r>
            <a:r>
              <a:rPr lang="en-US" b="1" dirty="0" err="1"/>
              <a:t>InSAR</a:t>
            </a:r>
            <a:r>
              <a:rPr lang="en-US" b="1" dirty="0"/>
              <a:t> Pipeline </a:t>
            </a:r>
            <a:r>
              <a:rPr lang="en-US" b="1" dirty="0" err="1"/>
              <a:t>w.r.t</a:t>
            </a:r>
            <a:r>
              <a:rPr lang="en-US" b="1" dirty="0"/>
              <a:t> Data Fusion Contest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71B8-D5CB-4CE2-9964-68310B132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/>
              <a:t>Data selection: </a:t>
            </a:r>
            <a:r>
              <a:rPr lang="en-US" dirty="0"/>
              <a:t>Suitable </a:t>
            </a:r>
            <a:r>
              <a:rPr lang="en-US" dirty="0" err="1"/>
              <a:t>SLIC</a:t>
            </a:r>
            <a:r>
              <a:rPr lang="en-US" dirty="0"/>
              <a:t> pairs only </a:t>
            </a:r>
            <a:r>
              <a:rPr lang="en-US" dirty="0" err="1"/>
              <a:t>w.r.t</a:t>
            </a:r>
            <a:r>
              <a:rPr lang="en-US" dirty="0"/>
              <a:t> to specified areas (geographic and temporal distribution)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chemeClr val="accent1"/>
                </a:solidFill>
              </a:rPr>
              <a:t>SLIC</a:t>
            </a:r>
            <a:r>
              <a:rPr lang="en-US" dirty="0">
                <a:solidFill>
                  <a:schemeClr val="accent1"/>
                </a:solidFill>
              </a:rPr>
              <a:t> files: 791/1582</a:t>
            </a:r>
          </a:p>
          <a:p>
            <a:pPr marL="0" indent="0">
              <a:buNone/>
            </a:pPr>
            <a:r>
              <a:rPr lang="en-US" dirty="0"/>
              <a:t>	Have to check the areas with sufficient </a:t>
            </a:r>
            <a:r>
              <a:rPr lang="en-US" dirty="0">
                <a:solidFill>
                  <a:schemeClr val="accent1"/>
                </a:solidFill>
              </a:rPr>
              <a:t>elevation variation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check sensor name, orbit types, inclination angle, temporal and perpendicular baseline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Finalize image pairs to be used in the study.   Suggestion Pick 3 locations (next slide)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95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DE5258-BA4B-47CE-A676-08F85B6D41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5"/>
          <a:stretch/>
        </p:blipFill>
        <p:spPr>
          <a:xfrm>
            <a:off x="163642" y="1400915"/>
            <a:ext cx="4191363" cy="1360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33D35B-C8ED-4794-9FEE-EF99EEB4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43555"/>
            <a:ext cx="10515600" cy="1325563"/>
          </a:xfrm>
        </p:spPr>
        <p:txBody>
          <a:bodyPr/>
          <a:lstStyle/>
          <a:p>
            <a:r>
              <a:rPr lang="en-US" b="1" dirty="0"/>
              <a:t>Geographic Distribution of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50AA44-D210-4218-BA42-646370DC2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0477"/>
            <a:ext cx="7161854" cy="3923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713819-1459-44DC-B3A1-DD3181995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242" y="97760"/>
            <a:ext cx="3574495" cy="27427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1BD2FC-069F-47AA-BCC1-00A759B9F3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39" y="2972046"/>
            <a:ext cx="4423719" cy="379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90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E701-7094-471C-B10F-4B7074C1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358" y="-16189"/>
            <a:ext cx="10515600" cy="1102315"/>
          </a:xfrm>
        </p:spPr>
        <p:txBody>
          <a:bodyPr/>
          <a:lstStyle/>
          <a:p>
            <a:r>
              <a:rPr lang="en-US" b="1" dirty="0"/>
              <a:t>No. of Acquisitions per site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73518C-4FEF-46D7-8E68-1E2DC32E9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67927"/>
              </p:ext>
            </p:extLst>
          </p:nvPr>
        </p:nvGraphicFramePr>
        <p:xfrm>
          <a:off x="234042" y="1086126"/>
          <a:ext cx="8380629" cy="5659842"/>
        </p:xfrm>
        <a:graphic>
          <a:graphicData uri="http://schemas.openxmlformats.org/drawingml/2006/table">
            <a:tbl>
              <a:tblPr/>
              <a:tblGrid>
                <a:gridCol w="2793543">
                  <a:extLst>
                    <a:ext uri="{9D8B030D-6E8A-4147-A177-3AD203B41FA5}">
                      <a16:colId xmlns:a16="http://schemas.microsoft.com/office/drawing/2014/main" val="1874301577"/>
                    </a:ext>
                  </a:extLst>
                </a:gridCol>
                <a:gridCol w="2793543">
                  <a:extLst>
                    <a:ext uri="{9D8B030D-6E8A-4147-A177-3AD203B41FA5}">
                      <a16:colId xmlns:a16="http://schemas.microsoft.com/office/drawing/2014/main" val="2137311754"/>
                    </a:ext>
                  </a:extLst>
                </a:gridCol>
                <a:gridCol w="2793543">
                  <a:extLst>
                    <a:ext uri="{9D8B030D-6E8A-4147-A177-3AD203B41FA5}">
                      <a16:colId xmlns:a16="http://schemas.microsoft.com/office/drawing/2014/main" val="800971446"/>
                    </a:ext>
                  </a:extLst>
                </a:gridCol>
              </a:tblGrid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accent1"/>
                          </a:solidFill>
                        </a:rPr>
                        <a:t>Latitude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solidFill>
                            <a:schemeClr val="accent1"/>
                          </a:solidFill>
                        </a:rPr>
                        <a:t>Longitude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accent1"/>
                          </a:solidFill>
                        </a:rPr>
                        <a:t>Number of </a:t>
                      </a:r>
                      <a:r>
                        <a:rPr lang="en-GB" sz="2000" b="1" dirty="0" err="1">
                          <a:solidFill>
                            <a:schemeClr val="accent1"/>
                          </a:solidFill>
                        </a:rPr>
                        <a:t>SLC</a:t>
                      </a:r>
                      <a:r>
                        <a:rPr lang="en-GB" sz="2000" b="1" dirty="0">
                          <a:solidFill>
                            <a:schemeClr val="accent1"/>
                          </a:solidFill>
                        </a:rPr>
                        <a:t> Files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54178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19.4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-155.3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221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501778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34.8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-118.1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119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434252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-23.2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118.8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100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77342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37.3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-121.9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88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691292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-21.8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122.2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62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22379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39.5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-121.5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36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047119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-12.7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132.9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20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00702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-30.4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136.8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19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11342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-43.0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147.3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15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178792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38.4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-0.4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10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39644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42.2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-83.5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10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950840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41.3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2.2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10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16036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43.1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-77.5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5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000515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-20.4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118.6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3417764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-33.9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151.2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889865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38.3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-77.0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634138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35.3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-75.5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22451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-23.5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148.8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58212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-27.5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153.0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78260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-14.5</a:t>
                      </a:r>
                      <a:endParaRPr lang="en-GB" sz="14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132.4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</a:t>
                      </a:r>
                      <a:endParaRPr lang="en-GB" sz="14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588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9C73A20-DABE-47E2-988C-FE8401124EF8}"/>
              </a:ext>
            </a:extLst>
          </p:cNvPr>
          <p:cNvSpPr txBox="1"/>
          <p:nvPr/>
        </p:nvSpPr>
        <p:spPr>
          <a:xfrm>
            <a:off x="8794977" y="2161721"/>
            <a:ext cx="33970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Overall Temporal Coverage </a:t>
            </a:r>
          </a:p>
          <a:p>
            <a:r>
              <a:rPr lang="en-GB" b="1" dirty="0"/>
              <a:t>(</a:t>
            </a:r>
            <a:r>
              <a:rPr lang="en-GB" b="1" dirty="0" err="1"/>
              <a:t>SLC</a:t>
            </a:r>
            <a:r>
              <a:rPr lang="en-GB" b="1" dirty="0"/>
              <a:t> only)</a:t>
            </a:r>
          </a:p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Total </a:t>
            </a:r>
            <a:r>
              <a:rPr lang="en-GB" b="1" dirty="0" err="1"/>
              <a:t>SLC</a:t>
            </a:r>
            <a:r>
              <a:rPr lang="en-GB" b="1" dirty="0"/>
              <a:t> scenes:</a:t>
            </a:r>
            <a:r>
              <a:rPr lang="en-GB" dirty="0"/>
              <a:t> 791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Earliest acquisition:</a:t>
            </a:r>
            <a:r>
              <a:rPr lang="en-GB" dirty="0"/>
              <a:t> </a:t>
            </a:r>
            <a:r>
              <a:rPr lang="en-GB" b="1" dirty="0"/>
              <a:t>2020-12-31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Latest acquisition:</a:t>
            </a:r>
            <a:r>
              <a:rPr lang="en-GB" dirty="0"/>
              <a:t> </a:t>
            </a:r>
            <a:r>
              <a:rPr lang="en-GB" b="1" dirty="0"/>
              <a:t>2025-11-12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Time span:</a:t>
            </a:r>
            <a:r>
              <a:rPr lang="en-GB" dirty="0"/>
              <a:t> ~ </a:t>
            </a:r>
            <a:r>
              <a:rPr lang="en-GB" b="1" dirty="0"/>
              <a:t>4.9 years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955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226C-8CC3-43E4-86C8-62D5FBAA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393" y="0"/>
            <a:ext cx="11593286" cy="1325563"/>
          </a:xfrm>
        </p:spPr>
        <p:txBody>
          <a:bodyPr/>
          <a:lstStyle/>
          <a:p>
            <a:r>
              <a:rPr lang="en-US" b="1" dirty="0"/>
              <a:t>Key Steps – </a:t>
            </a:r>
            <a:r>
              <a:rPr lang="en-US" b="1" dirty="0" err="1"/>
              <a:t>InSAR</a:t>
            </a:r>
            <a:r>
              <a:rPr lang="en-US" b="1" dirty="0"/>
              <a:t> Pipeline </a:t>
            </a:r>
            <a:r>
              <a:rPr lang="en-US" b="1" dirty="0" err="1"/>
              <a:t>w.r.t</a:t>
            </a:r>
            <a:r>
              <a:rPr lang="en-US" b="1" dirty="0"/>
              <a:t> Data Fusion Contest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71B8-D5CB-4CE2-9964-68310B132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273" y="1060291"/>
            <a:ext cx="10515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2. Geometry and meta data sanity checks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3. </a:t>
            </a:r>
            <a:r>
              <a:rPr lang="en-US" sz="2200" b="1" dirty="0" err="1"/>
              <a:t>Coregistration</a:t>
            </a:r>
            <a:r>
              <a:rPr lang="en-US" sz="2200" b="1" dirty="0"/>
              <a:t>: Master-Slave pixel level alignment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4. </a:t>
            </a:r>
            <a:r>
              <a:rPr lang="en-US" sz="2200" b="1" dirty="0">
                <a:solidFill>
                  <a:srgbClr val="FFC000"/>
                </a:solidFill>
              </a:rPr>
              <a:t>Coherence Estimation and Interferogram formation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5. </a:t>
            </a:r>
            <a:r>
              <a:rPr lang="en-US" sz="2200" b="1" dirty="0">
                <a:solidFill>
                  <a:srgbClr val="00B050"/>
                </a:solidFill>
              </a:rPr>
              <a:t>Adaptive Masking for low coherence areas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6. </a:t>
            </a:r>
            <a:r>
              <a:rPr lang="en-US" sz="2200" b="1" dirty="0">
                <a:solidFill>
                  <a:srgbClr val="00B050"/>
                </a:solidFill>
              </a:rPr>
              <a:t>DL based phase filtering compared to e.g., Goldstein filtering 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7. </a:t>
            </a:r>
            <a:r>
              <a:rPr lang="en-US" sz="2200" b="1" dirty="0">
                <a:solidFill>
                  <a:srgbClr val="00B050"/>
                </a:solidFill>
              </a:rPr>
              <a:t>DL assisted phase unwrapping instead of using </a:t>
            </a:r>
            <a:r>
              <a:rPr lang="en-US" sz="2200" b="1" dirty="0" err="1">
                <a:solidFill>
                  <a:srgbClr val="00B050"/>
                </a:solidFill>
              </a:rPr>
              <a:t>SNAPHU</a:t>
            </a:r>
            <a:endParaRPr lang="en-US" sz="2200" b="1" dirty="0">
              <a:solidFill>
                <a:srgbClr val="00B050"/>
              </a:solidFill>
            </a:endParaRP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8. </a:t>
            </a:r>
            <a:r>
              <a:rPr lang="en-US" sz="2200" b="1" dirty="0">
                <a:solidFill>
                  <a:srgbClr val="00B050"/>
                </a:solidFill>
              </a:rPr>
              <a:t>Generation of uncertainty/confidence maps 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B050"/>
                </a:solidFill>
              </a:rPr>
              <a:t>9. Estimate Closure Errors for multiple </a:t>
            </a:r>
            <a:r>
              <a:rPr lang="en-US" sz="2200" b="1" dirty="0" err="1">
                <a:solidFill>
                  <a:srgbClr val="00B050"/>
                </a:solidFill>
              </a:rPr>
              <a:t>SLIC</a:t>
            </a:r>
            <a:r>
              <a:rPr lang="en-US" sz="2200" b="1" dirty="0">
                <a:solidFill>
                  <a:srgbClr val="00B050"/>
                </a:solidFill>
              </a:rPr>
              <a:t> pairs of same area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10. DEM generation OR Time series analysis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11. Geocoding/terrain correction for visualization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b="1" dirty="0"/>
              <a:t>12.  </a:t>
            </a:r>
            <a:r>
              <a:rPr lang="en-US" sz="2200" b="1" dirty="0">
                <a:solidFill>
                  <a:srgbClr val="00B050"/>
                </a:solidFill>
              </a:rPr>
              <a:t>Calculation of Error / Quality metrics e.g., </a:t>
            </a:r>
            <a:r>
              <a:rPr lang="en-US" sz="2200" b="1" dirty="0" err="1">
                <a:solidFill>
                  <a:srgbClr val="00B050"/>
                </a:solidFill>
              </a:rPr>
              <a:t>RMSE</a:t>
            </a:r>
            <a:r>
              <a:rPr lang="en-US" sz="2200" b="1" dirty="0">
                <a:solidFill>
                  <a:srgbClr val="00B050"/>
                </a:solidFill>
              </a:rPr>
              <a:t>, </a:t>
            </a:r>
            <a:r>
              <a:rPr lang="en-US" sz="2200" b="1" dirty="0" err="1">
                <a:solidFill>
                  <a:srgbClr val="00B050"/>
                </a:solidFill>
              </a:rPr>
              <a:t>NMAD</a:t>
            </a:r>
            <a:r>
              <a:rPr lang="en-US" sz="2200" b="1" dirty="0">
                <a:solidFill>
                  <a:srgbClr val="00B050"/>
                </a:solidFill>
              </a:rPr>
              <a:t> etc.</a:t>
            </a:r>
            <a:endParaRPr lang="en-US" sz="2200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51A09E-631E-4288-BD4E-DE7FE4512F50}"/>
              </a:ext>
            </a:extLst>
          </p:cNvPr>
          <p:cNvSpPr txBox="1">
            <a:spLocks/>
          </p:cNvSpPr>
          <p:nvPr/>
        </p:nvSpPr>
        <p:spPr>
          <a:xfrm>
            <a:off x="519793" y="152400"/>
            <a:ext cx="115932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Key Steps – InSAR Pipeline w.r.t Data Fusion Contest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91359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C3875D-98BE-44A6-9C3D-7CB9A87CD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813" y="193040"/>
            <a:ext cx="5107587" cy="642112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037BBCB-0FF8-4986-BA1A-7BE39836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89" y="599440"/>
            <a:ext cx="5820047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Pair Selection using Conditional Graph based approach </a:t>
            </a:r>
          </a:p>
        </p:txBody>
      </p:sp>
    </p:spTree>
    <p:extLst>
      <p:ext uri="{BB962C8B-B14F-4D97-AF65-F5344CB8AC3E}">
        <p14:creationId xmlns:p14="http://schemas.microsoft.com/office/powerpoint/2010/main" val="102046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453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InSAR + DL</vt:lpstr>
      <vt:lpstr>Two Main Lines of Work considering InSAR+DL</vt:lpstr>
      <vt:lpstr>Key Steps – InSAR Pipeline w.r.t Data Fusion Contest</vt:lpstr>
      <vt:lpstr>Geographic Distribution of Dataset</vt:lpstr>
      <vt:lpstr>No. of Acquisitions per site</vt:lpstr>
      <vt:lpstr>Key Steps – InSAR Pipeline w.r.t Data Fusion Contest</vt:lpstr>
      <vt:lpstr>Pair Selection using Conditional Graph based approach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InSAR + DL</dc:title>
  <dc:creator>Farhan Humayun</dc:creator>
  <cp:lastModifiedBy>Farhan Humayun</cp:lastModifiedBy>
  <cp:revision>56</cp:revision>
  <dcterms:created xsi:type="dcterms:W3CDTF">2026-03-05T11:52:02Z</dcterms:created>
  <dcterms:modified xsi:type="dcterms:W3CDTF">2026-03-05T13:20:03Z</dcterms:modified>
</cp:coreProperties>
</file>